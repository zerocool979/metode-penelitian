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6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F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F3A5F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PROPOSAL MINI · UJIAN TENGAH SEMESTER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Ransomware-as-a-Service Bekerja?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BE7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Model Bisnis dan Ekosistem Ransomware-as-a-Service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38100">
            <a:solidFill>
              <a:srgbClr val="A3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</a:t>
            </a:r>
            <a:endParaRPr lang="en-US" sz="1500" dirty="0"/>
          </a:p>
          <a:p>
            <a:pPr>
              <a:lnSpc>
                <a:spcPts val="2400"/>
              </a:lnSpc>
            </a:pPr>
            <a:r>
              <a:rPr lang="en-US" sz="15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241552010004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Informatika, STMIK Tazkia, Bogor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Pembimbing: Hendri Karisma, M.T.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</a:t>
            </a:r>
            <a:r>
              <a:rPr lang="en-US" sz="1200" dirty="0" err="1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</a:t>
            </a: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 — Konteks dan Urgensi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3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kenaikan pembayaran tebusan harian sebelum vs. sesudah 2020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87452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20574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A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29260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 volume serangan ransomware dalam satu tahun (Q1 2024)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20574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83880" y="29260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pangsa serangan Q1 2024 yang didominasi satu operasi RaaS: LockBit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Pergeseran dari serangan ransomware tunggal menuju model </a:t>
            </a: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Ransomware-as-a-Service (RaaS)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pengembang menyewakan “kit” ransomware kepada afiliasi dengan skema bagi hasil — telah mengubah ransomware dari kejahatan sporadis menjadi industri semi-formal yang terstruktur.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Dhawan dkk. (2025); Ferdous dkk. (2024)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State-of-the-Art — Ringkasan Penelitian Terdahulu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Penulis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Temuan Kunci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Laszka dkk. (2017)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Ekonomi keputusan bayar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penyerang tunggal; r ≤ L/b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Dhawan dkk.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Revenue-split on-chain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85:15; RaaS &gt;90%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dkk.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 organisasi Conti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$104,4jt; gaji tim terstruktur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Fachkha dkk. (2025)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Evolusi Babuk–GandCrab–Sodinokibi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Modularitas &amp; rebranding sbg strategi survival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Qollakaj &amp; Larsson (2023)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Infrastruktur akses awal (IAB)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Populasi IAB naik 112% (2022)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studi ini menganalisis satu lapisan RaaS secara terpisah (ekonomi, teknis, atau organisasional) — belum ada yang menyintesiskan ketiganya ke dalam satu kerangka analisis terpadu.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Celah yang Belum Diisi Penelitian Terdahulu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84248"/>
            <a:ext cx="822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lintas-lapisan
</a:t>
            </a:r>
            <a:r>
              <a:rPr lang="en-US" sz="11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terdahulu berfokus pada satu lapisan (ekonomi/teknis/organisasional) tanpa menyintesis ketiganya.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84248"/>
            <a:ext cx="822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69480" y="196596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IAB sebagai aktor mandiri
</a:t>
            </a:r>
            <a:r>
              <a:rPr lang="en-US" sz="11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 Broker sering disebut sepintas, jarang dianalisis sebagai entitas ekonomi independen.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93008"/>
            <a:ext cx="822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4747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Vetting sebagai tata kelola
</a:t>
            </a:r>
            <a:r>
              <a:rPr lang="en-US" sz="11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vetting afiliasi umumnya dianggap detail operasional semata, bukan tata kelola kuasi-korporat.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1F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93008"/>
            <a:ext cx="82296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69480" y="347472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aktor negara
</a:t>
            </a:r>
            <a:r>
              <a:rPr lang="en-US" sz="11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Keterlibatan negara masih berupa observasi tersebar, belum diintegrasikan secara struktural.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DF3F3"/>
          </a:solidFill>
          <a:ln w="15875">
            <a:solidFill>
              <a:srgbClr val="A3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A33D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92024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model RaaS berbeda dari ransomware konvensional dalam hal pembagian peran dan revenue antara pengembang dan afiliasi?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7E9D7"/>
          </a:solidFill>
          <a:ln w="15875">
            <a:solidFill>
              <a:srgbClr val="8A5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639312"/>
            <a:ext cx="685800" cy="685800"/>
          </a:xfrm>
          <a:prstGeom prst="ellipse">
            <a:avLst/>
          </a:prstGeom>
          <a:solidFill>
            <a:srgbClr val="8A5A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39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3456432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saja komponen ekosistem RaaS (developer, afiliasi, Initial Access Broker) dan bagaimana pola interaksi antar mereka?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3EFE1"/>
          </a:solidFill>
          <a:ln w="15875">
            <a:solidFill>
              <a:srgbClr val="2F6B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175504"/>
            <a:ext cx="685800" cy="685800"/>
          </a:xfrm>
          <a:prstGeom prst="ellipse">
            <a:avLst/>
          </a:prstGeom>
          <a:solidFill>
            <a:srgbClr val="2F6B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7550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4992624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mekanisme vetting afiliasi dalam RaaS mencerminkan selektivitas yang melampaui sekadar motif finansial?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Penelitian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A33D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33D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Mengidentifikasi &amp; Membandingkan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pembagian peran serta skema revenue sharing pada RaaS versus ransomware konvensional.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 dengan RQ1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920240"/>
            <a:ext cx="3520440" cy="109728"/>
          </a:xfrm>
          <a:prstGeom prst="rect">
            <a:avLst/>
          </a:prstGeom>
          <a:solidFill>
            <a:srgbClr val="8A5A1F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53712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Memetakan Ekosistem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3712" y="361188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ekosistem RaaS beserta pola interaksi antar-aktor ke dalam tipologi hubungan.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53712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 dengan RQ2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19202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01584" y="1920240"/>
            <a:ext cx="3520440" cy="109728"/>
          </a:xfrm>
          <a:prstGeom prst="rect">
            <a:avLst/>
          </a:prstGeom>
          <a:solidFill>
            <a:srgbClr val="2F6B34"/>
          </a:solidFill>
          <a:ln/>
        </p:spPr>
      </p:sp>
      <p:sp>
        <p:nvSpPr>
          <p:cNvPr id="18" name="Text 16"/>
          <p:cNvSpPr/>
          <p:nvPr/>
        </p:nvSpPr>
        <p:spPr>
          <a:xfrm>
            <a:off x="8330184" y="2240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30184" y="2971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Menginterpretasikan Vetting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0184" y="361188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vetting afiliasi sebagai instrumen tata kelola informal, bukan semata penyaring finansial.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30184" y="5029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 dengan RQ3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Batasan Masalah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melakukan pengumpulan data primer dari forum dark web atau observasi langsung transaksi kriminal.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literatur dibatasi pada 12 dokumen kurasi program riset — bukan tinjauan sistematis menyeluruh.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6576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difokuskan pada kasus RaaS paling terdokumentasi (Conti, LockBit, DarkSide, BlackCat, Hive, VECT).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2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45720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keterkaitan aktor negara bersifat interpretatif, bukan klaim atribusi forensik independen.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Solusi — Peta Konseptual Ekosistem RaaS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169E32-D556-1E13-AE5F-7CC3A5CE22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18" b="16665"/>
          <a:stretch>
            <a:fillRect/>
          </a:stretch>
        </p:blipFill>
        <p:spPr>
          <a:xfrm>
            <a:off x="2469662" y="1441554"/>
            <a:ext cx="7135445" cy="4513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Referensi Utama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51560" y="17373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Dhawan, Foley &amp; Mollica (2025) — Splitting the Spoils: The Economics of Ransomware as a Service. SSRN Preprint.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23134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Ferdous, Islam, Mahboubi &amp; Islam (2024) — AI-Based Ransomware Detection: A Comprehensive Review. IEEE Access.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8895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8895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Laszka, Farhang &amp; Grossklags (2017) — On the Economics of Ransomware. arXiv:1707.06247.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4655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4655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Gray, Cable, Brown, Cuiujuclu &amp; McCoy (2023) — Money Over Morals: A Business Analysis of Conti Ransomware. arXiv:2304.11681.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51560" y="40416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Fachkha dkk. (2025) — Ransomware-as-a-Service and Its Evolution. Univ. of Dubai / McGill / Concordia.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Milenkoski, Minier, Vögele, Smeets &amp; Grossman (2025) — Ransomware's New Masters. Virtual Routes, Pharos Series.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1937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51937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Qollakaj &amp; Larsson (2023) — Cybersecurity of Remote Work Migration. Blekinge Institute of Technology.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lengkap (12 referensi, format IEEE) tersedia pada naskah lengkap.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F3A5F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A3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Mohon arahan dan masukan dari Bapak/Ibu penguji.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38100">
            <a:solidFill>
              <a:srgbClr val="A3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519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untuk sesi tanya jawab: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Justifikasi pemilihan pendekatan deskriptif-eksplanatif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Kedalaman matriks SOTA dan peta konseptual ekosistem</a:t>
            </a:r>
            <a:endParaRPr lang="en-US" sz="13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DB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Batasan interpretatif diskusi aktor negara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RaaS Bekerja? — Seminar Proposal Mini (UTS)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0879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916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ellioth adreson</cp:lastModifiedBy>
  <cp:revision>2</cp:revision>
  <dcterms:created xsi:type="dcterms:W3CDTF">2026-07-17T22:01:12Z</dcterms:created>
  <dcterms:modified xsi:type="dcterms:W3CDTF">2026-07-18T17:56:21Z</dcterms:modified>
</cp:coreProperties>
</file>